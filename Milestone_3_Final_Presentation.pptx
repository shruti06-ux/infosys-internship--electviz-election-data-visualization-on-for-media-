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11"/>
  </p:notesMasterIdLst>
  <p:sldIdLst>
    <p:sldId id="256" r:id="rId2"/>
    <p:sldId id="257" r:id="rId3"/>
    <p:sldId id="258" r:id="rId4"/>
    <p:sldId id="259" r:id="rId5"/>
    <p:sldId id="266" r:id="rId6"/>
    <p:sldId id="260" r:id="rId7"/>
    <p:sldId id="267" r:id="rId8"/>
    <p:sldId id="261" r:id="rId9"/>
    <p:sldId id="265" r:id="rId10"/>
  </p:sldIdLst>
  <p:sldSz cx="9144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3288" userDrawn="1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68A9F52A-23E6-439C-B8EE-24ECEF8D1556}" v="3" dt="2025-12-14T13:17:51.629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78" d="100"/>
          <a:sy n="78" d="100"/>
        </p:scale>
        <p:origin x="1594" y="62"/>
      </p:cViewPr>
      <p:guideLst>
        <p:guide orient="horz" pos="3288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viewProps" Target="viewProp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microsoft.com/office/2015/10/relationships/revisionInfo" Target="revisionInfo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notesMaster" Target="notesMasters/notesMaster1.xml"/><Relationship Id="rId5" Type="http://schemas.openxmlformats.org/officeDocument/2006/relationships/slide" Target="slides/slide4.xml"/><Relationship Id="rId15" Type="http://schemas.openxmlformats.org/officeDocument/2006/relationships/tableStyles" Target="tableStyles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4CBAACC-E64A-403B-A021-AE4ACB55F1F6}" type="datetimeFigureOut">
              <a:rPr lang="en-US" smtClean="0"/>
              <a:t>12/18/2025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371600" y="1143000"/>
            <a:ext cx="41148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5C7291E-0CB1-4949-8BA1-D663441DEC8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7111950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12/18/2025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12/18/2025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12/18/2025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12/18/2025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12/18/2025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12/18/2025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12/18/2025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12/18/2025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12/18/2025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12/18/2025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12/18/2025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12/18/2025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1676400"/>
            <a:ext cx="2857500" cy="3505200"/>
          </a:xfrm>
        </p:spPr>
        <p:txBody>
          <a:bodyPr anchor="t">
            <a:normAutofit/>
          </a:bodyPr>
          <a:lstStyle/>
          <a:p>
            <a:r>
              <a:rPr lang="en-US" sz="3500"/>
              <a:t> </a:t>
            </a:r>
            <a:br>
              <a:rPr lang="en-US" sz="3500"/>
            </a:br>
            <a:endParaRPr lang="en-US" sz="350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776748" y="1297858"/>
            <a:ext cx="7580671" cy="4267200"/>
          </a:xfrm>
        </p:spPr>
        <p:txBody>
          <a:bodyPr>
            <a:noAutofit/>
          </a:bodyPr>
          <a:lstStyle/>
          <a:p>
            <a:pPr marL="0" indent="0" algn="ctr">
              <a:lnSpc>
                <a:spcPct val="90000"/>
              </a:lnSpc>
              <a:buNone/>
            </a:pPr>
            <a:r>
              <a:rPr lang="en-US" sz="3000" b="1" dirty="0">
                <a:solidFill>
                  <a:schemeClr val="tx1">
                    <a:alpha val="55000"/>
                  </a:schemeClr>
                </a:solidFill>
              </a:rPr>
              <a:t>Infosys Springboard Virtual Internship 6.0</a:t>
            </a:r>
          </a:p>
          <a:p>
            <a:pPr marL="0" indent="0" algn="ctr">
              <a:lnSpc>
                <a:spcPct val="90000"/>
              </a:lnSpc>
              <a:buNone/>
            </a:pPr>
            <a:br>
              <a:rPr lang="en-US" sz="2500" b="1" dirty="0">
                <a:solidFill>
                  <a:schemeClr val="tx1">
                    <a:alpha val="55000"/>
                  </a:schemeClr>
                </a:solidFill>
              </a:rPr>
            </a:br>
            <a:r>
              <a:rPr lang="en-US" sz="2500" b="1" dirty="0">
                <a:solidFill>
                  <a:schemeClr val="tx1">
                    <a:alpha val="55000"/>
                  </a:schemeClr>
                </a:solidFill>
              </a:rPr>
              <a:t>Milestone – 3: </a:t>
            </a:r>
          </a:p>
          <a:p>
            <a:pPr marL="0" indent="0" algn="ctr">
              <a:lnSpc>
                <a:spcPct val="90000"/>
              </a:lnSpc>
              <a:buNone/>
            </a:pPr>
            <a:r>
              <a:rPr lang="en-US" sz="2500" b="1" dirty="0">
                <a:solidFill>
                  <a:schemeClr val="tx1">
                    <a:alpha val="55000"/>
                  </a:schemeClr>
                </a:solidFill>
              </a:rPr>
              <a:t>Advanced DAX, Interactivity &amp; Testing</a:t>
            </a:r>
          </a:p>
          <a:p>
            <a:pPr marL="0" indent="0" algn="ctr">
              <a:lnSpc>
                <a:spcPct val="90000"/>
              </a:lnSpc>
              <a:buNone/>
            </a:pPr>
            <a:endParaRPr lang="en-US" sz="2500" b="1" dirty="0">
              <a:solidFill>
                <a:schemeClr val="tx1">
                  <a:alpha val="55000"/>
                </a:schemeClr>
              </a:solidFill>
            </a:endParaRPr>
          </a:p>
          <a:p>
            <a:pPr marL="0" indent="0" algn="ctr">
              <a:lnSpc>
                <a:spcPct val="90000"/>
              </a:lnSpc>
              <a:buNone/>
            </a:pPr>
            <a:r>
              <a:rPr lang="en-US" sz="2500" b="1" dirty="0">
                <a:solidFill>
                  <a:schemeClr val="tx1">
                    <a:alpha val="55000"/>
                  </a:schemeClr>
                </a:solidFill>
              </a:rPr>
              <a:t>Project Title: </a:t>
            </a:r>
            <a:r>
              <a:rPr lang="en-US" sz="2500" b="1" i="1" dirty="0">
                <a:solidFill>
                  <a:schemeClr val="tx1">
                    <a:alpha val="55000"/>
                  </a:schemeClr>
                </a:solidFill>
              </a:rPr>
              <a:t>2024 Indian General Election Data 					Visualization</a:t>
            </a:r>
          </a:p>
          <a:p>
            <a:pPr marL="0" indent="0" algn="ctr">
              <a:lnSpc>
                <a:spcPct val="90000"/>
              </a:lnSpc>
              <a:buNone/>
            </a:pPr>
            <a:br>
              <a:rPr lang="en-US" sz="2500" b="1" dirty="0">
                <a:solidFill>
                  <a:schemeClr val="tx1">
                    <a:alpha val="55000"/>
                  </a:schemeClr>
                </a:solidFill>
              </a:rPr>
            </a:br>
            <a:r>
              <a:rPr lang="en-US" sz="2500" b="1" dirty="0">
                <a:solidFill>
                  <a:schemeClr val="tx1">
                    <a:alpha val="55000"/>
                  </a:schemeClr>
                </a:solidFill>
              </a:rPr>
              <a:t>Platform: Microsoft Power BI</a:t>
            </a:r>
          </a:p>
          <a:p>
            <a:pPr marL="0" indent="0" algn="ctr">
              <a:lnSpc>
                <a:spcPct val="90000"/>
              </a:lnSpc>
              <a:buNone/>
            </a:pPr>
            <a:br>
              <a:rPr lang="en-US" sz="2500" b="1" dirty="0">
                <a:solidFill>
                  <a:schemeClr val="tx1">
                    <a:alpha val="55000"/>
                  </a:schemeClr>
                </a:solidFill>
              </a:rPr>
            </a:br>
            <a:r>
              <a:rPr lang="en-US" sz="2500" b="1" dirty="0">
                <a:solidFill>
                  <a:schemeClr val="tx1">
                    <a:alpha val="55000"/>
                  </a:schemeClr>
                </a:solidFill>
              </a:rPr>
              <a:t>Dataset: Lok Sabha Election 2024 (Kaggle)</a:t>
            </a:r>
          </a:p>
          <a:p>
            <a:pPr marL="0" indent="0" algn="ctr">
              <a:lnSpc>
                <a:spcPct val="90000"/>
              </a:lnSpc>
              <a:buNone/>
            </a:pPr>
            <a:endParaRPr lang="en-US" sz="2500" b="1" dirty="0">
              <a:solidFill>
                <a:schemeClr val="tx1">
                  <a:alpha val="55000"/>
                </a:schemeClr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417199" y="1094915"/>
            <a:ext cx="4299768" cy="573957"/>
          </a:xfrm>
        </p:spPr>
        <p:txBody>
          <a:bodyPr anchor="t">
            <a:normAutofit fontScale="90000"/>
          </a:bodyPr>
          <a:lstStyle/>
          <a:p>
            <a:r>
              <a:rPr lang="en-IN" sz="3500" dirty="0"/>
              <a:t>Overview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16077" y="1668872"/>
            <a:ext cx="7502013" cy="3865306"/>
          </a:xfrm>
        </p:spPr>
        <p:txBody>
          <a:bodyPr>
            <a:noAutofit/>
          </a:bodyPr>
          <a:lstStyle/>
          <a:p>
            <a:pPr>
              <a:lnSpc>
                <a:spcPct val="90000"/>
              </a:lnSpc>
            </a:pPr>
            <a:r>
              <a:rPr lang="en-US" sz="1900" dirty="0">
                <a:solidFill>
                  <a:schemeClr val="tx1">
                    <a:alpha val="55000"/>
                  </a:schemeClr>
                </a:solidFill>
              </a:rPr>
              <a:t>This dashboard analyzes the 2024 Indian General (Lok Sabha) Election results using interactive data visualizations.</a:t>
            </a:r>
          </a:p>
          <a:p>
            <a:pPr>
              <a:lnSpc>
                <a:spcPct val="90000"/>
              </a:lnSpc>
            </a:pPr>
            <a:r>
              <a:rPr lang="en-US" sz="1900" dirty="0">
                <a:solidFill>
                  <a:schemeClr val="tx1">
                    <a:alpha val="55000"/>
                  </a:schemeClr>
                </a:solidFill>
              </a:rPr>
              <a:t>It converts raw election data into easy-to-understand insights at the national, state, and constituency levels.</a:t>
            </a:r>
          </a:p>
          <a:p>
            <a:pPr>
              <a:lnSpc>
                <a:spcPct val="90000"/>
              </a:lnSpc>
            </a:pPr>
            <a:r>
              <a:rPr lang="en-US" sz="1900" dirty="0">
                <a:solidFill>
                  <a:schemeClr val="tx1">
                    <a:alpha val="55000"/>
                  </a:schemeClr>
                </a:solidFill>
              </a:rPr>
              <a:t>State-wise political dominance is clearly represented using maps and charts.</a:t>
            </a:r>
          </a:p>
          <a:p>
            <a:pPr>
              <a:lnSpc>
                <a:spcPct val="90000"/>
              </a:lnSpc>
            </a:pPr>
            <a:r>
              <a:rPr lang="en-US" sz="1900" dirty="0">
                <a:solidFill>
                  <a:schemeClr val="tx1">
                    <a:alpha val="55000"/>
                  </a:schemeClr>
                </a:solidFill>
              </a:rPr>
              <a:t>Users can select a state to view party-wise seat share and alliance performance.</a:t>
            </a:r>
          </a:p>
          <a:p>
            <a:pPr>
              <a:lnSpc>
                <a:spcPct val="90000"/>
              </a:lnSpc>
            </a:pPr>
            <a:r>
              <a:rPr lang="en-US" sz="1900" dirty="0">
                <a:solidFill>
                  <a:schemeClr val="tx1">
                    <a:alpha val="55000"/>
                  </a:schemeClr>
                </a:solidFill>
              </a:rPr>
              <a:t>Detailed constituency analysis provides information on total votes, EVM votes, postal votes, and candidates.</a:t>
            </a:r>
          </a:p>
          <a:p>
            <a:pPr>
              <a:lnSpc>
                <a:spcPct val="90000"/>
              </a:lnSpc>
            </a:pPr>
            <a:r>
              <a:rPr lang="en-US" sz="1900" dirty="0">
                <a:solidFill>
                  <a:schemeClr val="tx1">
                    <a:alpha val="55000"/>
                  </a:schemeClr>
                </a:solidFill>
              </a:rPr>
              <a:t>Winning, runner-up, and second runner-up details are displayed for better comparison.</a:t>
            </a:r>
          </a:p>
          <a:p>
            <a:pPr marL="0" indent="0">
              <a:lnSpc>
                <a:spcPct val="90000"/>
              </a:lnSpc>
              <a:buNone/>
            </a:pPr>
            <a:r>
              <a:rPr lang="en-US" sz="1900" dirty="0">
                <a:solidFill>
                  <a:schemeClr val="tx1">
                    <a:alpha val="55000"/>
                  </a:schemeClr>
                </a:solidFill>
              </a:rPr>
              <a:t>Overall, the dashboard makes complex election data simple, visual, and meaningful.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63665" y="2649794"/>
            <a:ext cx="2857500" cy="3505200"/>
          </a:xfrm>
        </p:spPr>
        <p:txBody>
          <a:bodyPr anchor="t">
            <a:normAutofit/>
          </a:bodyPr>
          <a:lstStyle/>
          <a:p>
            <a:r>
              <a:rPr lang="en-IN" sz="3500" dirty="0"/>
              <a:t>Advanced DAX Completion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321165" y="1278193"/>
            <a:ext cx="5134577" cy="4188541"/>
          </a:xfrm>
        </p:spPr>
        <p:txBody>
          <a:bodyPr>
            <a:noAutofit/>
          </a:bodyPr>
          <a:lstStyle/>
          <a:p>
            <a:pPr marL="0" indent="0">
              <a:buNone/>
            </a:pPr>
            <a:r>
              <a:rPr lang="en-US" sz="2300" dirty="0">
                <a:solidFill>
                  <a:schemeClr val="tx1">
                    <a:alpha val="55000"/>
                  </a:schemeClr>
                </a:solidFill>
              </a:rPr>
              <a:t>In this milestone, previously created DAX measures were extended and refined to support:</a:t>
            </a:r>
          </a:p>
          <a:p>
            <a:r>
              <a:rPr lang="en-US" sz="2300" dirty="0">
                <a:solidFill>
                  <a:schemeClr val="tx1">
                    <a:alpha val="55000"/>
                  </a:schemeClr>
                </a:solidFill>
              </a:rPr>
              <a:t>Alliance-wise percentage calculations</a:t>
            </a:r>
          </a:p>
          <a:p>
            <a:r>
              <a:rPr lang="en-US" sz="2300" dirty="0">
                <a:solidFill>
                  <a:schemeClr val="tx1">
                    <a:alpha val="55000"/>
                  </a:schemeClr>
                </a:solidFill>
              </a:rPr>
              <a:t>State-level majority detection</a:t>
            </a:r>
          </a:p>
          <a:p>
            <a:r>
              <a:rPr lang="en-US" sz="2300" dirty="0">
                <a:solidFill>
                  <a:schemeClr val="tx1">
                    <a:alpha val="55000"/>
                  </a:schemeClr>
                </a:solidFill>
              </a:rPr>
              <a:t>Conditional margin classification</a:t>
            </a:r>
          </a:p>
          <a:p>
            <a:r>
              <a:rPr lang="en-US" sz="2300" dirty="0">
                <a:solidFill>
                  <a:schemeClr val="tx1">
                    <a:alpha val="55000"/>
                  </a:schemeClr>
                </a:solidFill>
              </a:rPr>
              <a:t>Dynamic behavior under slicers and filters</a:t>
            </a:r>
          </a:p>
          <a:p>
            <a:pPr marL="0" indent="0">
              <a:buNone/>
            </a:pPr>
            <a:r>
              <a:rPr lang="en-US" sz="2300" dirty="0">
                <a:solidFill>
                  <a:schemeClr val="tx1">
                    <a:alpha val="55000"/>
                  </a:schemeClr>
                </a:solidFill>
              </a:rPr>
              <a:t>The focus was on accuracy, reusability, and performance optimization.</a:t>
            </a:r>
          </a:p>
          <a:p>
            <a:endParaRPr lang="en-US" sz="2300" dirty="0">
              <a:solidFill>
                <a:schemeClr val="tx1">
                  <a:alpha val="55000"/>
                </a:schemeClr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24631" y="2521974"/>
            <a:ext cx="2857500" cy="3505200"/>
          </a:xfrm>
        </p:spPr>
        <p:txBody>
          <a:bodyPr anchor="t">
            <a:normAutofit/>
          </a:bodyPr>
          <a:lstStyle/>
          <a:p>
            <a:r>
              <a:rPr lang="en-IN" sz="3500" dirty="0"/>
              <a:t>Key DAX Measures Implemented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6203" y="999204"/>
            <a:ext cx="4229097" cy="3505200"/>
          </a:xfrm>
        </p:spPr>
        <p:txBody>
          <a:bodyPr>
            <a:noAutofit/>
          </a:bodyPr>
          <a:lstStyle/>
          <a:p>
            <a:pPr marL="0" indent="0">
              <a:lnSpc>
                <a:spcPct val="90000"/>
              </a:lnSpc>
              <a:buNone/>
            </a:pPr>
            <a:r>
              <a:rPr lang="en-US" sz="1850" b="1" dirty="0">
                <a:solidFill>
                  <a:schemeClr val="tx1">
                    <a:alpha val="55000"/>
                  </a:schemeClr>
                </a:solidFill>
              </a:rPr>
              <a:t>1. Total Seats Won</a:t>
            </a:r>
            <a:endParaRPr lang="en-US" sz="1850" dirty="0">
              <a:solidFill>
                <a:schemeClr val="tx1">
                  <a:alpha val="55000"/>
                </a:schemeClr>
              </a:solidFill>
            </a:endParaRPr>
          </a:p>
          <a:p>
            <a:pPr marL="0" indent="0">
              <a:lnSpc>
                <a:spcPct val="90000"/>
              </a:lnSpc>
              <a:buNone/>
            </a:pPr>
            <a:r>
              <a:rPr lang="en-US" sz="1850" dirty="0">
                <a:solidFill>
                  <a:schemeClr val="tx1">
                    <a:alpha val="55000"/>
                  </a:schemeClr>
                </a:solidFill>
              </a:rPr>
              <a:t>			 Total Seats Won = 												 DISTINCTCOUNT(</a:t>
            </a:r>
            <a:r>
              <a:rPr lang="en-US" sz="1850" dirty="0" err="1">
                <a:solidFill>
                  <a:schemeClr val="tx1">
                    <a:alpha val="55000"/>
                  </a:schemeClr>
                </a:solidFill>
              </a:rPr>
              <a:t>Votes_Fact</a:t>
            </a:r>
            <a:r>
              <a:rPr lang="en-US" sz="1850" dirty="0">
                <a:solidFill>
                  <a:schemeClr val="tx1">
                    <a:alpha val="55000"/>
                  </a:schemeClr>
                </a:solidFill>
              </a:rPr>
              <a:t>[Constituency])</a:t>
            </a:r>
          </a:p>
          <a:p>
            <a:pPr marL="0" indent="0">
              <a:lnSpc>
                <a:spcPct val="90000"/>
              </a:lnSpc>
              <a:buNone/>
            </a:pPr>
            <a:r>
              <a:rPr lang="en-US" sz="1850" b="1" dirty="0">
                <a:solidFill>
                  <a:schemeClr val="tx1">
                    <a:alpha val="55000"/>
                  </a:schemeClr>
                </a:solidFill>
              </a:rPr>
              <a:t>Description: </a:t>
            </a:r>
            <a:r>
              <a:rPr lang="en-US" sz="1850" dirty="0">
                <a:solidFill>
                  <a:schemeClr val="tx1">
                    <a:alpha val="55000"/>
                  </a:schemeClr>
                </a:solidFill>
              </a:rPr>
              <a:t>Used across all visuals for seat-based analysis.</a:t>
            </a:r>
          </a:p>
          <a:p>
            <a:pPr marL="0" indent="0">
              <a:lnSpc>
                <a:spcPct val="90000"/>
              </a:lnSpc>
              <a:buNone/>
            </a:pPr>
            <a:r>
              <a:rPr lang="en-US" sz="1850" b="1" dirty="0">
                <a:solidFill>
                  <a:schemeClr val="tx1">
                    <a:alpha val="55000"/>
                  </a:schemeClr>
                </a:solidFill>
              </a:rPr>
              <a:t>2. Alliance Seat Percentage</a:t>
            </a:r>
            <a:endParaRPr lang="en-US" sz="1850" dirty="0">
              <a:solidFill>
                <a:schemeClr val="tx1">
                  <a:alpha val="55000"/>
                </a:schemeClr>
              </a:solidFill>
            </a:endParaRPr>
          </a:p>
          <a:p>
            <a:pPr marL="0" indent="0">
              <a:lnSpc>
                <a:spcPct val="90000"/>
              </a:lnSpc>
              <a:buNone/>
            </a:pPr>
            <a:r>
              <a:rPr lang="en-US" sz="1850" dirty="0">
                <a:solidFill>
                  <a:schemeClr val="tx1">
                    <a:alpha val="55000"/>
                  </a:schemeClr>
                </a:solidFill>
              </a:rPr>
              <a:t>		Alliance Seat % =</a:t>
            </a:r>
          </a:p>
          <a:p>
            <a:pPr marL="0" indent="0">
              <a:lnSpc>
                <a:spcPct val="90000"/>
              </a:lnSpc>
              <a:buNone/>
            </a:pPr>
            <a:r>
              <a:rPr lang="en-US" sz="1850" dirty="0">
                <a:solidFill>
                  <a:schemeClr val="tx1">
                    <a:alpha val="55000"/>
                  </a:schemeClr>
                </a:solidFill>
              </a:rPr>
              <a:t>		DIVIDE(</a:t>
            </a:r>
          </a:p>
          <a:p>
            <a:pPr marL="0" indent="0">
              <a:lnSpc>
                <a:spcPct val="90000"/>
              </a:lnSpc>
              <a:buNone/>
            </a:pPr>
            <a:r>
              <a:rPr lang="en-US" sz="1850" dirty="0">
                <a:solidFill>
                  <a:schemeClr val="tx1">
                    <a:alpha val="55000"/>
                  </a:schemeClr>
                </a:solidFill>
              </a:rPr>
              <a:t>    			[Total Seats Won],</a:t>
            </a:r>
          </a:p>
          <a:p>
            <a:pPr marL="0" indent="0">
              <a:lnSpc>
                <a:spcPct val="90000"/>
              </a:lnSpc>
              <a:buNone/>
            </a:pPr>
            <a:r>
              <a:rPr lang="en-US" sz="1850" dirty="0">
                <a:solidFill>
                  <a:schemeClr val="tx1">
                    <a:alpha val="55000"/>
                  </a:schemeClr>
                </a:solidFill>
              </a:rPr>
              <a:t>    			CALCULATE([Total Seats Won], ALL(</a:t>
            </a:r>
            <a:r>
              <a:rPr lang="en-US" sz="1850" dirty="0" err="1">
                <a:solidFill>
                  <a:schemeClr val="tx1">
                    <a:alpha val="55000"/>
                  </a:schemeClr>
                </a:solidFill>
              </a:rPr>
              <a:t>Dim_Alliance</a:t>
            </a:r>
            <a:r>
              <a:rPr lang="en-US" sz="1850" dirty="0">
                <a:solidFill>
                  <a:schemeClr val="tx1">
                    <a:alpha val="55000"/>
                  </a:schemeClr>
                </a:solidFill>
              </a:rPr>
              <a:t>))</a:t>
            </a:r>
          </a:p>
          <a:p>
            <a:pPr marL="0" indent="0">
              <a:lnSpc>
                <a:spcPct val="90000"/>
              </a:lnSpc>
              <a:buNone/>
            </a:pPr>
            <a:r>
              <a:rPr lang="en-US" sz="1850" dirty="0">
                <a:solidFill>
                  <a:schemeClr val="tx1">
                    <a:alpha val="55000"/>
                  </a:schemeClr>
                </a:solidFill>
              </a:rPr>
              <a:t>)</a:t>
            </a:r>
          </a:p>
          <a:p>
            <a:pPr marL="0" indent="0">
              <a:lnSpc>
                <a:spcPct val="90000"/>
              </a:lnSpc>
              <a:buNone/>
            </a:pPr>
            <a:r>
              <a:rPr lang="en-US" sz="1850" b="1" dirty="0">
                <a:solidFill>
                  <a:schemeClr val="tx1">
                    <a:alpha val="55000"/>
                  </a:schemeClr>
                </a:solidFill>
              </a:rPr>
              <a:t>Description: </a:t>
            </a:r>
            <a:r>
              <a:rPr lang="en-US" sz="1850" dirty="0">
                <a:solidFill>
                  <a:schemeClr val="tx1">
                    <a:alpha val="55000"/>
                  </a:schemeClr>
                </a:solidFill>
              </a:rPr>
              <a:t>Displays proportional alliance performance.</a:t>
            </a:r>
          </a:p>
          <a:p>
            <a:pPr marL="0" indent="0">
              <a:lnSpc>
                <a:spcPct val="90000"/>
              </a:lnSpc>
              <a:buNone/>
            </a:pPr>
            <a:endParaRPr lang="en-US" sz="1850" dirty="0">
              <a:solidFill>
                <a:schemeClr val="tx1">
                  <a:alpha val="55000"/>
                </a:schemeClr>
              </a:solidFill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69007781-1AEE-4FE2-8527-FF7B46F123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-1"/>
            <a:ext cx="9143998" cy="42672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E7F342F-8F86-41FC-A9DE-865B16F5028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9FA5174A-CE0B-42D0-8DA3-4E995C0926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DE35DE37-E5F4-4D1E-8AE0-8A7D46F3B3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74295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7BC9500-0D06-00C9-3F6A-90CC04A5438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57249" y="1028699"/>
            <a:ext cx="5927009" cy="1104900"/>
          </a:xfrm>
        </p:spPr>
        <p:txBody>
          <a:bodyPr anchor="t">
            <a:normAutofit/>
          </a:bodyPr>
          <a:lstStyle/>
          <a:p>
            <a:pPr algn="l"/>
            <a:r>
              <a:rPr lang="en-US" sz="3500" dirty="0"/>
              <a:t>Conditional DAX Logic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5F90E8F-F045-32F2-F2EA-94EF3FB58F2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857249" y="1666567"/>
            <a:ext cx="6713590" cy="1752600"/>
          </a:xfrm>
        </p:spPr>
        <p:txBody>
          <a:bodyPr>
            <a:noAutofit/>
          </a:bodyPr>
          <a:lstStyle/>
          <a:p>
            <a:pPr algn="l">
              <a:lnSpc>
                <a:spcPct val="90000"/>
              </a:lnSpc>
            </a:pPr>
            <a:r>
              <a:rPr lang="en-US" sz="2000" b="1" dirty="0">
                <a:solidFill>
                  <a:schemeClr val="tx1">
                    <a:alpha val="55000"/>
                  </a:schemeClr>
                </a:solidFill>
              </a:rPr>
              <a:t>3. Margin Category</a:t>
            </a:r>
            <a:endParaRPr lang="en-US" sz="2000" dirty="0">
              <a:solidFill>
                <a:schemeClr val="tx1">
                  <a:alpha val="55000"/>
                </a:schemeClr>
              </a:solidFill>
            </a:endParaRPr>
          </a:p>
          <a:p>
            <a:pPr algn="l">
              <a:lnSpc>
                <a:spcPct val="90000"/>
              </a:lnSpc>
            </a:pPr>
            <a:r>
              <a:rPr lang="en-US" sz="2000" dirty="0">
                <a:solidFill>
                  <a:schemeClr val="tx1">
                    <a:alpha val="55000"/>
                  </a:schemeClr>
                </a:solidFill>
              </a:rPr>
              <a:t>		Margin Category =</a:t>
            </a:r>
          </a:p>
          <a:p>
            <a:pPr algn="l">
              <a:lnSpc>
                <a:spcPct val="90000"/>
              </a:lnSpc>
            </a:pPr>
            <a:r>
              <a:rPr lang="en-US" sz="2000" dirty="0">
                <a:solidFill>
                  <a:schemeClr val="tx1">
                    <a:alpha val="55000"/>
                  </a:schemeClr>
                </a:solidFill>
              </a:rPr>
              <a:t>		SWITCH(</a:t>
            </a:r>
          </a:p>
          <a:p>
            <a:pPr algn="l">
              <a:lnSpc>
                <a:spcPct val="90000"/>
              </a:lnSpc>
            </a:pPr>
            <a:r>
              <a:rPr lang="en-US" sz="2000" dirty="0">
                <a:solidFill>
                  <a:schemeClr val="tx1">
                    <a:alpha val="55000"/>
                  </a:schemeClr>
                </a:solidFill>
              </a:rPr>
              <a:t>    			TRUE(),</a:t>
            </a:r>
          </a:p>
          <a:p>
            <a:pPr algn="l">
              <a:lnSpc>
                <a:spcPct val="90000"/>
              </a:lnSpc>
            </a:pPr>
            <a:r>
              <a:rPr lang="en-US" sz="2000" dirty="0">
                <a:solidFill>
                  <a:schemeClr val="tx1">
                    <a:alpha val="55000"/>
                  </a:schemeClr>
                </a:solidFill>
              </a:rPr>
              <a:t>    			</a:t>
            </a:r>
            <a:r>
              <a:rPr lang="en-US" sz="2000" dirty="0" err="1">
                <a:solidFill>
                  <a:schemeClr val="tx1">
                    <a:alpha val="55000"/>
                  </a:schemeClr>
                </a:solidFill>
              </a:rPr>
              <a:t>Votes_Fact</a:t>
            </a:r>
            <a:r>
              <a:rPr lang="en-US" sz="2000" dirty="0">
                <a:solidFill>
                  <a:schemeClr val="tx1">
                    <a:alpha val="55000"/>
                  </a:schemeClr>
                </a:solidFill>
              </a:rPr>
              <a:t>[Margin] &lt; 10000, "Close Contest",</a:t>
            </a:r>
          </a:p>
          <a:p>
            <a:pPr algn="l">
              <a:lnSpc>
                <a:spcPct val="90000"/>
              </a:lnSpc>
            </a:pPr>
            <a:r>
              <a:rPr lang="en-US" sz="2000" dirty="0">
                <a:solidFill>
                  <a:schemeClr val="tx1">
                    <a:alpha val="55000"/>
                  </a:schemeClr>
                </a:solidFill>
              </a:rPr>
              <a:t>    			</a:t>
            </a:r>
            <a:r>
              <a:rPr lang="en-US" sz="2000" dirty="0" err="1">
                <a:solidFill>
                  <a:schemeClr val="tx1">
                    <a:alpha val="55000"/>
                  </a:schemeClr>
                </a:solidFill>
              </a:rPr>
              <a:t>Votes_Fact</a:t>
            </a:r>
            <a:r>
              <a:rPr lang="en-US" sz="2000" dirty="0">
                <a:solidFill>
                  <a:schemeClr val="tx1">
                    <a:alpha val="55000"/>
                  </a:schemeClr>
                </a:solidFill>
              </a:rPr>
              <a:t>[Margin] &lt; 50000, "Moderate Win",</a:t>
            </a:r>
          </a:p>
          <a:p>
            <a:pPr algn="l">
              <a:lnSpc>
                <a:spcPct val="90000"/>
              </a:lnSpc>
            </a:pPr>
            <a:r>
              <a:rPr lang="en-US" sz="2000" dirty="0">
                <a:solidFill>
                  <a:schemeClr val="tx1">
                    <a:alpha val="55000"/>
                  </a:schemeClr>
                </a:solidFill>
              </a:rPr>
              <a:t>    			"Strong Win"</a:t>
            </a:r>
          </a:p>
          <a:p>
            <a:pPr algn="l">
              <a:lnSpc>
                <a:spcPct val="90000"/>
              </a:lnSpc>
            </a:pPr>
            <a:r>
              <a:rPr lang="en-US" sz="2000" dirty="0">
                <a:solidFill>
                  <a:schemeClr val="tx1">
                    <a:alpha val="55000"/>
                  </a:schemeClr>
                </a:solidFill>
              </a:rPr>
              <a:t>)</a:t>
            </a:r>
          </a:p>
          <a:p>
            <a:pPr algn="l">
              <a:lnSpc>
                <a:spcPct val="90000"/>
              </a:lnSpc>
            </a:pPr>
            <a:r>
              <a:rPr lang="en-US" sz="2000" b="1" dirty="0">
                <a:solidFill>
                  <a:schemeClr val="tx1">
                    <a:alpha val="55000"/>
                  </a:schemeClr>
                </a:solidFill>
              </a:rPr>
              <a:t>4. State Majority Alliance</a:t>
            </a:r>
            <a:endParaRPr lang="en-US" sz="2000" dirty="0">
              <a:solidFill>
                <a:schemeClr val="tx1">
                  <a:alpha val="55000"/>
                </a:schemeClr>
              </a:solidFill>
            </a:endParaRPr>
          </a:p>
          <a:p>
            <a:pPr algn="l">
              <a:lnSpc>
                <a:spcPct val="90000"/>
              </a:lnSpc>
            </a:pPr>
            <a:r>
              <a:rPr lang="en-US" sz="2000" dirty="0">
                <a:solidFill>
                  <a:schemeClr val="tx1">
                    <a:alpha val="55000"/>
                  </a:schemeClr>
                </a:solidFill>
              </a:rPr>
              <a:t>		State Majority Alliance =</a:t>
            </a:r>
          </a:p>
          <a:p>
            <a:pPr algn="l">
              <a:lnSpc>
                <a:spcPct val="90000"/>
              </a:lnSpc>
            </a:pPr>
            <a:r>
              <a:rPr lang="en-US" sz="2000" dirty="0">
                <a:solidFill>
                  <a:schemeClr val="tx1">
                    <a:alpha val="55000"/>
                  </a:schemeClr>
                </a:solidFill>
              </a:rPr>
              <a:t>		IF([NDA Seats] &gt; [INDIA Seats], "NDA", "INDIA")</a:t>
            </a:r>
          </a:p>
          <a:p>
            <a:pPr algn="l">
              <a:lnSpc>
                <a:spcPct val="90000"/>
              </a:lnSpc>
            </a:pPr>
            <a:endParaRPr lang="en-US" sz="2000" dirty="0">
              <a:solidFill>
                <a:schemeClr val="tx1">
                  <a:alpha val="55000"/>
                </a:schemeClr>
              </a:solidFill>
            </a:endParaRPr>
          </a:p>
          <a:p>
            <a:pPr algn="l">
              <a:lnSpc>
                <a:spcPct val="90000"/>
              </a:lnSpc>
            </a:pPr>
            <a:r>
              <a:rPr lang="en-US" sz="2000" dirty="0">
                <a:solidFill>
                  <a:schemeClr val="tx1">
                    <a:alpha val="55000"/>
                  </a:schemeClr>
                </a:solidFill>
              </a:rPr>
              <a:t>		</a:t>
            </a:r>
          </a:p>
        </p:txBody>
      </p:sp>
    </p:spTree>
    <p:extLst>
      <p:ext uri="{BB962C8B-B14F-4D97-AF65-F5344CB8AC3E}">
        <p14:creationId xmlns:p14="http://schemas.microsoft.com/office/powerpoint/2010/main" val="88360400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3CA3DAA-08BB-476F-9793-941CFAEA5E6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C1EF744A-E0CA-4659-9909-4B77BF70D34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09C8437-171E-4687-AA5E-A46A56AEE0E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4FEFA667-DE58-4745-9E9D-C6E61CB06A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30892" y="2362200"/>
            <a:ext cx="2857500" cy="3505200"/>
          </a:xfrm>
        </p:spPr>
        <p:txBody>
          <a:bodyPr anchor="t">
            <a:normAutofit/>
          </a:bodyPr>
          <a:lstStyle/>
          <a:p>
            <a:r>
              <a:rPr lang="en-IN" sz="3500" dirty="0"/>
              <a:t>Interactivity Features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617043" y="1104900"/>
            <a:ext cx="4229097" cy="3505200"/>
          </a:xfrm>
        </p:spPr>
        <p:txBody>
          <a:bodyPr>
            <a:noAutofit/>
          </a:bodyPr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v"/>
            </a:pPr>
            <a:r>
              <a:rPr lang="en-US" sz="2100" dirty="0">
                <a:solidFill>
                  <a:schemeClr val="tx1">
                    <a:alpha val="55000"/>
                  </a:schemeClr>
                </a:solidFill>
              </a:rPr>
              <a:t>To enhance user exploration, the following interactivity features were added: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v"/>
            </a:pPr>
            <a:r>
              <a:rPr lang="en-US" sz="2100" dirty="0">
                <a:solidFill>
                  <a:schemeClr val="tx1">
                    <a:alpha val="55000"/>
                  </a:schemeClr>
                </a:solidFill>
              </a:rPr>
              <a:t>State-level slicers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v"/>
            </a:pPr>
            <a:r>
              <a:rPr lang="en-US" sz="2100" dirty="0">
                <a:solidFill>
                  <a:schemeClr val="tx1">
                    <a:alpha val="55000"/>
                  </a:schemeClr>
                </a:solidFill>
              </a:rPr>
              <a:t>Alliance-based slicers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v"/>
            </a:pPr>
            <a:r>
              <a:rPr lang="en-US" sz="2100" dirty="0">
                <a:solidFill>
                  <a:schemeClr val="tx1">
                    <a:alpha val="55000"/>
                  </a:schemeClr>
                </a:solidFill>
              </a:rPr>
              <a:t>Cross-filtering between charts and maps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v"/>
            </a:pPr>
            <a:r>
              <a:rPr lang="en-US" sz="2100" dirty="0">
                <a:solidFill>
                  <a:schemeClr val="tx1">
                    <a:alpha val="55000"/>
                  </a:schemeClr>
                </a:solidFill>
              </a:rPr>
              <a:t>Drill-down hierarchy: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Ø"/>
            </a:pPr>
            <a:r>
              <a:rPr lang="en-US" sz="2100" dirty="0">
                <a:solidFill>
                  <a:schemeClr val="tx1">
                    <a:alpha val="55000"/>
                  </a:schemeClr>
                </a:solidFill>
              </a:rPr>
              <a:t>India → State → Constituency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v"/>
            </a:pPr>
            <a:r>
              <a:rPr lang="en-US" sz="2100" dirty="0">
                <a:solidFill>
                  <a:schemeClr val="tx1">
                    <a:alpha val="55000"/>
                  </a:schemeClr>
                </a:solidFill>
              </a:rPr>
              <a:t>Dynamic tooltips displaying: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Ø"/>
            </a:pPr>
            <a:r>
              <a:rPr lang="en-US" sz="2100" dirty="0">
                <a:solidFill>
                  <a:schemeClr val="tx1">
                    <a:alpha val="55000"/>
                  </a:schemeClr>
                </a:solidFill>
              </a:rPr>
              <a:t>Winning candidate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Ø"/>
            </a:pPr>
            <a:r>
              <a:rPr lang="en-US" sz="2100" dirty="0">
                <a:solidFill>
                  <a:schemeClr val="tx1">
                    <a:alpha val="55000"/>
                  </a:schemeClr>
                </a:solidFill>
              </a:rPr>
              <a:t>Party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Ø"/>
            </a:pPr>
            <a:r>
              <a:rPr lang="en-US" sz="2100" dirty="0">
                <a:solidFill>
                  <a:schemeClr val="tx1">
                    <a:alpha val="55000"/>
                  </a:schemeClr>
                </a:solidFill>
              </a:rPr>
              <a:t>Votes and margin</a:t>
            </a:r>
          </a:p>
          <a:p>
            <a:pPr>
              <a:lnSpc>
                <a:spcPct val="90000"/>
              </a:lnSpc>
            </a:pPr>
            <a:endParaRPr lang="en-US" sz="2100" dirty="0">
              <a:solidFill>
                <a:schemeClr val="tx1">
                  <a:alpha val="55000"/>
                </a:schemeClr>
              </a:solidFill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734D70A6-D693-7DE5-AB84-36E7831A02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3CA3DAA-08BB-476F-9793-941CFAEA5E6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C1EF744A-E0CA-4659-9909-4B77BF70D34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09C8437-171E-4687-AA5E-A46A56AEE0E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4FEFA667-DE58-4745-9E9D-C6E61CB06A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AE22DB3-E22D-7A3A-E045-B64C3882BF9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57150" y="2286000"/>
            <a:ext cx="2857500" cy="3505200"/>
          </a:xfrm>
        </p:spPr>
        <p:txBody>
          <a:bodyPr anchor="t">
            <a:normAutofit/>
          </a:bodyPr>
          <a:lstStyle/>
          <a:p>
            <a:r>
              <a:rPr lang="en-US" sz="3500" dirty="0"/>
              <a:t>Visual Interaction Behavior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C9BF918-522B-414F-9DAA-3ABC5073CC4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244645" y="1676400"/>
            <a:ext cx="4527755" cy="3505200"/>
          </a:xfrm>
        </p:spPr>
        <p:txBody>
          <a:bodyPr>
            <a:noAutofit/>
          </a:bodyPr>
          <a:lstStyle/>
          <a:p>
            <a:pPr>
              <a:lnSpc>
                <a:spcPct val="90000"/>
              </a:lnSpc>
            </a:pPr>
            <a:r>
              <a:rPr lang="en-US" sz="2200" dirty="0">
                <a:solidFill>
                  <a:schemeClr val="tx1">
                    <a:alpha val="55000"/>
                  </a:schemeClr>
                </a:solidFill>
              </a:rPr>
              <a:t>Selecting an alliance dynamically updates:</a:t>
            </a:r>
          </a:p>
          <a:p>
            <a:pPr lvl="1">
              <a:lnSpc>
                <a:spcPct val="90000"/>
              </a:lnSpc>
            </a:pPr>
            <a:r>
              <a:rPr lang="en-US" sz="2200" dirty="0">
                <a:solidFill>
                  <a:schemeClr val="tx1">
                    <a:alpha val="55000"/>
                  </a:schemeClr>
                </a:solidFill>
              </a:rPr>
              <a:t>KPI cards</a:t>
            </a:r>
          </a:p>
          <a:p>
            <a:pPr lvl="1">
              <a:lnSpc>
                <a:spcPct val="90000"/>
              </a:lnSpc>
            </a:pPr>
            <a:r>
              <a:rPr lang="en-US" sz="2200" dirty="0">
                <a:solidFill>
                  <a:schemeClr val="tx1">
                    <a:alpha val="55000"/>
                  </a:schemeClr>
                </a:solidFill>
              </a:rPr>
              <a:t>Party-wise charts</a:t>
            </a:r>
          </a:p>
          <a:p>
            <a:pPr lvl="1">
              <a:lnSpc>
                <a:spcPct val="90000"/>
              </a:lnSpc>
            </a:pPr>
            <a:r>
              <a:rPr lang="en-US" sz="2200" dirty="0">
                <a:solidFill>
                  <a:schemeClr val="tx1">
                    <a:alpha val="55000"/>
                  </a:schemeClr>
                </a:solidFill>
              </a:rPr>
              <a:t>State maps</a:t>
            </a:r>
          </a:p>
          <a:p>
            <a:pPr>
              <a:lnSpc>
                <a:spcPct val="90000"/>
              </a:lnSpc>
            </a:pPr>
            <a:r>
              <a:rPr lang="en-US" sz="2200" dirty="0">
                <a:solidFill>
                  <a:schemeClr val="tx1">
                    <a:alpha val="55000"/>
                  </a:schemeClr>
                </a:solidFill>
              </a:rPr>
              <a:t>Selecting a state updates:</a:t>
            </a:r>
          </a:p>
          <a:p>
            <a:pPr lvl="1">
              <a:lnSpc>
                <a:spcPct val="90000"/>
              </a:lnSpc>
            </a:pPr>
            <a:r>
              <a:rPr lang="en-US" sz="2200" dirty="0">
                <a:solidFill>
                  <a:schemeClr val="tx1">
                    <a:alpha val="55000"/>
                  </a:schemeClr>
                </a:solidFill>
              </a:rPr>
              <a:t>Constituency-level insights</a:t>
            </a:r>
          </a:p>
          <a:p>
            <a:pPr lvl="1">
              <a:lnSpc>
                <a:spcPct val="90000"/>
              </a:lnSpc>
            </a:pPr>
            <a:r>
              <a:rPr lang="en-US" sz="2200" dirty="0">
                <a:solidFill>
                  <a:schemeClr val="tx1">
                    <a:alpha val="55000"/>
                  </a:schemeClr>
                </a:solidFill>
              </a:rPr>
              <a:t>Winning candidate map</a:t>
            </a:r>
          </a:p>
          <a:p>
            <a:pPr>
              <a:lnSpc>
                <a:spcPct val="90000"/>
              </a:lnSpc>
            </a:pPr>
            <a:r>
              <a:rPr lang="en-US" sz="2200" dirty="0">
                <a:solidFill>
                  <a:schemeClr val="tx1">
                    <a:alpha val="55000"/>
                  </a:schemeClr>
                </a:solidFill>
              </a:rPr>
              <a:t>Hover actions reveal detailed tooltips without cluttering visuals</a:t>
            </a:r>
          </a:p>
        </p:txBody>
      </p:sp>
    </p:spTree>
    <p:extLst>
      <p:ext uri="{BB962C8B-B14F-4D97-AF65-F5344CB8AC3E}">
        <p14:creationId xmlns:p14="http://schemas.microsoft.com/office/powerpoint/2010/main" val="33094237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79870" y="1174956"/>
            <a:ext cx="6823587" cy="840658"/>
          </a:xfrm>
        </p:spPr>
        <p:txBody>
          <a:bodyPr anchor="t">
            <a:normAutofit/>
          </a:bodyPr>
          <a:lstStyle/>
          <a:p>
            <a:r>
              <a:rPr lang="en-IN" sz="3500" dirty="0"/>
              <a:t>Development Enhancements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752167" y="2095500"/>
            <a:ext cx="7678992" cy="3505200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2300" dirty="0">
                <a:solidFill>
                  <a:schemeClr val="tx1">
                    <a:alpha val="55000"/>
                  </a:schemeClr>
                </a:solidFill>
              </a:rPr>
              <a:t>Development activities completed in Milestone 3 include:</a:t>
            </a:r>
          </a:p>
          <a:p>
            <a:pPr>
              <a:buFont typeface="Wingdings" panose="05000000000000000000" pitchFamily="2" charset="2"/>
              <a:buChar char="§"/>
            </a:pPr>
            <a:r>
              <a:rPr lang="en-US" sz="2300" dirty="0">
                <a:solidFill>
                  <a:schemeClr val="tx1">
                    <a:alpha val="55000"/>
                  </a:schemeClr>
                </a:solidFill>
              </a:rPr>
              <a:t>Finalizing all DAX calculations</a:t>
            </a:r>
          </a:p>
          <a:p>
            <a:pPr>
              <a:buFont typeface="Wingdings" panose="05000000000000000000" pitchFamily="2" charset="2"/>
              <a:buChar char="§"/>
            </a:pPr>
            <a:r>
              <a:rPr lang="en-US" sz="2300" dirty="0">
                <a:solidFill>
                  <a:schemeClr val="tx1">
                    <a:alpha val="55000"/>
                  </a:schemeClr>
                </a:solidFill>
              </a:rPr>
              <a:t>Optimizing data model relationships</a:t>
            </a:r>
          </a:p>
          <a:p>
            <a:pPr>
              <a:buFont typeface="Wingdings" panose="05000000000000000000" pitchFamily="2" charset="2"/>
              <a:buChar char="§"/>
            </a:pPr>
            <a:r>
              <a:rPr lang="en-US" sz="2300" dirty="0">
                <a:solidFill>
                  <a:schemeClr val="tx1">
                    <a:alpha val="55000"/>
                  </a:schemeClr>
                </a:solidFill>
              </a:rPr>
              <a:t>Applying conditional formatting using DAX</a:t>
            </a:r>
          </a:p>
          <a:p>
            <a:pPr>
              <a:buFont typeface="Wingdings" panose="05000000000000000000" pitchFamily="2" charset="2"/>
              <a:buChar char="§"/>
            </a:pPr>
            <a:r>
              <a:rPr lang="en-US" sz="2300" dirty="0">
                <a:solidFill>
                  <a:schemeClr val="tx1">
                    <a:alpha val="55000"/>
                  </a:schemeClr>
                </a:solidFill>
              </a:rPr>
              <a:t>Improving visual alignment and layout</a:t>
            </a:r>
          </a:p>
          <a:p>
            <a:pPr>
              <a:buFont typeface="Wingdings" panose="05000000000000000000" pitchFamily="2" charset="2"/>
              <a:buChar char="§"/>
            </a:pPr>
            <a:r>
              <a:rPr lang="en-US" sz="2300" dirty="0">
                <a:solidFill>
                  <a:schemeClr val="tx1">
                    <a:alpha val="55000"/>
                  </a:schemeClr>
                </a:solidFill>
              </a:rPr>
              <a:t>Ensuring consistent color coding for alliances</a:t>
            </a:r>
          </a:p>
          <a:p>
            <a:endParaRPr lang="en-US" sz="2300" dirty="0">
              <a:solidFill>
                <a:schemeClr val="tx1">
                  <a:alpha val="55000"/>
                </a:schemeClr>
              </a:solidFill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68760" y="2857500"/>
            <a:ext cx="2857500" cy="3505200"/>
          </a:xfrm>
        </p:spPr>
        <p:txBody>
          <a:bodyPr anchor="t">
            <a:normAutofit/>
          </a:bodyPr>
          <a:lstStyle/>
          <a:p>
            <a:r>
              <a:rPr lang="en-IN" sz="3500" dirty="0"/>
              <a:t>Conclusion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6203" y="1676400"/>
            <a:ext cx="4229097" cy="3505200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2300" dirty="0">
                <a:solidFill>
                  <a:schemeClr val="tx1">
                    <a:alpha val="55000"/>
                  </a:schemeClr>
                </a:solidFill>
              </a:rPr>
              <a:t>Milestone 3 successfully delivered:</a:t>
            </a:r>
          </a:p>
          <a:p>
            <a:pPr>
              <a:buFont typeface="Wingdings" panose="05000000000000000000" pitchFamily="2" charset="2"/>
              <a:buChar char="ü"/>
            </a:pPr>
            <a:r>
              <a:rPr lang="en-US" sz="2300" dirty="0">
                <a:solidFill>
                  <a:schemeClr val="tx1">
                    <a:alpha val="55000"/>
                  </a:schemeClr>
                </a:solidFill>
              </a:rPr>
              <a:t>Advanced and optimized DAX measures</a:t>
            </a:r>
          </a:p>
          <a:p>
            <a:pPr>
              <a:buFont typeface="Wingdings" panose="05000000000000000000" pitchFamily="2" charset="2"/>
              <a:buChar char="ü"/>
            </a:pPr>
            <a:r>
              <a:rPr lang="en-US" sz="2300" dirty="0">
                <a:solidFill>
                  <a:schemeClr val="tx1">
                    <a:alpha val="55000"/>
                  </a:schemeClr>
                </a:solidFill>
              </a:rPr>
              <a:t>Fully interactive dashboards</a:t>
            </a:r>
          </a:p>
          <a:p>
            <a:pPr>
              <a:buFont typeface="Wingdings" panose="05000000000000000000" pitchFamily="2" charset="2"/>
              <a:buChar char="ü"/>
            </a:pPr>
            <a:r>
              <a:rPr lang="en-US" sz="2300" dirty="0">
                <a:solidFill>
                  <a:schemeClr val="tx1">
                    <a:alpha val="55000"/>
                  </a:schemeClr>
                </a:solidFill>
              </a:rPr>
              <a:t>Validated and tested analytics</a:t>
            </a:r>
          </a:p>
          <a:p>
            <a:pPr>
              <a:buFont typeface="Wingdings" panose="05000000000000000000" pitchFamily="2" charset="2"/>
              <a:buChar char="ü"/>
            </a:pPr>
            <a:r>
              <a:rPr lang="en-US" sz="2300" dirty="0">
                <a:solidFill>
                  <a:schemeClr val="tx1">
                    <a:alpha val="55000"/>
                  </a:schemeClr>
                </a:solidFill>
              </a:rPr>
              <a:t>A production-ready Power BI solution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59</TotalTime>
  <Words>525</Words>
  <Application>Microsoft Office PowerPoint</Application>
  <PresentationFormat>On-screen Show (4:3)</PresentationFormat>
  <Paragraphs>81</Paragraphs>
  <Slides>9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9</vt:i4>
      </vt:variant>
    </vt:vector>
  </HeadingPairs>
  <TitlesOfParts>
    <vt:vector size="14" baseType="lpstr">
      <vt:lpstr>Aptos</vt:lpstr>
      <vt:lpstr>Arial</vt:lpstr>
      <vt:lpstr>Calibri</vt:lpstr>
      <vt:lpstr>Wingdings</vt:lpstr>
      <vt:lpstr>Office Theme</vt:lpstr>
      <vt:lpstr>  </vt:lpstr>
      <vt:lpstr>Overview</vt:lpstr>
      <vt:lpstr>Advanced DAX Completion</vt:lpstr>
      <vt:lpstr>Key DAX Measures Implemented</vt:lpstr>
      <vt:lpstr>Conditional DAX Logic</vt:lpstr>
      <vt:lpstr>Interactivity Features</vt:lpstr>
      <vt:lpstr>Visual Interaction Behavior</vt:lpstr>
      <vt:lpstr>Development Enhancements</vt:lpstr>
      <vt:lpstr>Conclusion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>Mohammed Rayyan</dc:creator>
  <cp:keywords/>
  <dc:description>generated using python-pptx</dc:description>
  <cp:lastModifiedBy>Jaavanika L</cp:lastModifiedBy>
  <cp:revision>4</cp:revision>
  <dcterms:created xsi:type="dcterms:W3CDTF">2013-01-27T09:14:16Z</dcterms:created>
  <dcterms:modified xsi:type="dcterms:W3CDTF">2025-12-18T15:38:20Z</dcterms:modified>
  <cp:category/>
</cp:coreProperties>
</file>